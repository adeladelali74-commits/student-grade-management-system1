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" charset="1" panose="00000500000000000000"/>
      <p:regular r:id="rId16"/>
    </p:embeddedFont>
    <p:embeddedFont>
      <p:font typeface="Anton" charset="1" panose="00000500000000000000"/>
      <p:regular r:id="rId17"/>
    </p:embeddedFont>
    <p:embeddedFont>
      <p:font typeface="Montserrat Bold" charset="1" panose="000008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2_Freeform8.png"/></Relationships>
</file>

<file path=ppt/slides/_rels/slide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3_Freeform15.png"/><Relationship Id="rId101" Type="http://schemas.openxmlformats.org/officeDocument/2006/relationships/image" Target="../media/s3_Freeform17.png"/></Relationships>
</file>

<file path=ppt/slides/_rels/slide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4_Freeform9.png"/><Relationship Id="rId101" Type="http://schemas.openxmlformats.org/officeDocument/2006/relationships/image" Target="../media/s4_Freeform14.png"/></Relationships>
</file>

<file path=ppt/slides/_rels/slide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5_Freeform10.png"/><Relationship Id="rId101" Type="http://schemas.openxmlformats.org/officeDocument/2006/relationships/image" Target="../media/s5_Freeform15.png"/><Relationship Id="rId102" Type="http://schemas.openxmlformats.org/officeDocument/2006/relationships/image" Target="../media/s5_Freeform20.png"/></Relationships>
</file>

<file path=ppt/slides/_rels/slide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6_Freeform8.png"/><Relationship Id="rId101" Type="http://schemas.openxmlformats.org/officeDocument/2006/relationships/image" Target="../media/s6_Freeform13.png"/></Relationships>
</file>

<file path=ppt/slides/_rels/slide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7_Freeform10.png"/><Relationship Id="rId101" Type="http://schemas.openxmlformats.org/officeDocument/2006/relationships/image" Target="../media/s7_Freeform15.png"/></Relationships>
</file>

<file path=ppt/slides/_rels/slide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8_Freeform10.png"/><Relationship Id="rId101" Type="http://schemas.openxmlformats.org/officeDocument/2006/relationships/image" Target="../media/s8_Freeform15.png"/></Relationships>
</file>

<file path=ppt/slides/_rels/slide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9_Freeform10.png"/><Relationship Id="rId101" Type="http://schemas.openxmlformats.org/officeDocument/2006/relationships/image" Target="../media/s9_Freeform15.png"/><Relationship Id="rId102" Type="http://schemas.openxmlformats.org/officeDocument/2006/relationships/image" Target="../media/s9_Freeform20.png"/></Relationships>
</file>

<file path=ppt/slides/_rels/slide1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100" Type="http://schemas.openxmlformats.org/officeDocument/2006/relationships/image" Target="../media/s10_Freeform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311199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6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6" y="0"/>
                </a:lnTo>
                <a:lnTo>
                  <a:pt x="11688756" y="10349861"/>
                </a:lnTo>
                <a:close/>
              </a:path>
            </a:pathLst>
          </a:custGeom>
          <a:blipFill>
            <a:blip r:embed="rId3">
              <a:alphaModFix amt="1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8910443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10349861"/>
                </a:moveTo>
                <a:lnTo>
                  <a:pt x="11688756" y="10349861"/>
                </a:lnTo>
                <a:lnTo>
                  <a:pt x="11688756" y="0"/>
                </a:lnTo>
                <a:lnTo>
                  <a:pt x="0" y="0"/>
                </a:lnTo>
                <a:lnTo>
                  <a:pt x="0" y="10349861"/>
                </a:lnTo>
                <a:close/>
              </a:path>
            </a:pathLst>
          </a:custGeom>
          <a:blipFill>
            <a:blip r:embed="rId3">
              <a:alphaModFix amt="1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3255014" y="7366375"/>
            <a:ext cx="4004286" cy="1891925"/>
            <a:chOff x="0" y="0"/>
            <a:chExt cx="1054627" cy="4982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54627" cy="498285"/>
            </a:xfrm>
            <a:custGeom>
              <a:avLst/>
              <a:gdLst/>
              <a:ahLst/>
              <a:cxnLst/>
              <a:rect r="r" b="b" t="t" l="l"/>
              <a:pathLst>
                <a:path h="498285" w="1054627">
                  <a:moveTo>
                    <a:pt x="0" y="0"/>
                  </a:moveTo>
                  <a:lnTo>
                    <a:pt x="1054627" y="0"/>
                  </a:lnTo>
                  <a:lnTo>
                    <a:pt x="1054627" y="498285"/>
                  </a:lnTo>
                  <a:lnTo>
                    <a:pt x="0" y="498285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54627" cy="536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32449" y="7366375"/>
            <a:ext cx="4004286" cy="1891925"/>
            <a:chOff x="0" y="0"/>
            <a:chExt cx="1054627" cy="4982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4627" cy="498285"/>
            </a:xfrm>
            <a:custGeom>
              <a:avLst/>
              <a:gdLst/>
              <a:ahLst/>
              <a:cxnLst/>
              <a:rect r="r" b="b" t="t" l="l"/>
              <a:pathLst>
                <a:path h="498285" w="1054627">
                  <a:moveTo>
                    <a:pt x="0" y="0"/>
                  </a:moveTo>
                  <a:lnTo>
                    <a:pt x="1054627" y="0"/>
                  </a:lnTo>
                  <a:lnTo>
                    <a:pt x="1054627" y="498285"/>
                  </a:lnTo>
                  <a:lnTo>
                    <a:pt x="0" y="498285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54627" cy="536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3735367" y="7778938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Built with functions, lists, dictionaries and loops.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12801" y="7778938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Python console program that stores student grades and attendance.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030843" y="942975"/>
            <a:ext cx="12226314" cy="471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00"/>
              </a:lnSpc>
              <a:spcBef>
                <a:spcPts val="0"/>
              </a:spcBef>
            </a:pPr>
            <a:r>
              <a:rPr lang="en-US" sz="4400" spc="800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STUDENT GRADE MANAGER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028700" y="1045662"/>
            <a:ext cx="8212638" cy="8212638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483723" y="1500685"/>
            <a:ext cx="7302593" cy="730259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79852" y="2324210"/>
            <a:ext cx="4938410" cy="2124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69"/>
              </a:lnSpc>
              <a:spcBef>
                <a:spcPts val="0"/>
              </a:spcBef>
            </a:pPr>
            <a:r>
              <a:rPr lang="en-US" sz="6999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About the Project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579852" y="5143500"/>
            <a:ext cx="5789647" cy="3201190"/>
            <a:chOff x="0" y="0"/>
            <a:chExt cx="1524845" cy="84311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24845" cy="843112"/>
            </a:xfrm>
            <a:custGeom>
              <a:avLst/>
              <a:gdLst/>
              <a:ahLst/>
              <a:cxnLst/>
              <a:rect r="r" b="b" t="t" l="l"/>
              <a:pathLst>
                <a:path h="843112" w="1524845">
                  <a:moveTo>
                    <a:pt x="0" y="0"/>
                  </a:moveTo>
                  <a:lnTo>
                    <a:pt x="1524845" y="0"/>
                  </a:lnTo>
                  <a:lnTo>
                    <a:pt x="1524845" y="843112"/>
                  </a:lnTo>
                  <a:lnTo>
                    <a:pt x="0" y="843112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524845" cy="8812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1245647" y="5696345"/>
            <a:ext cx="4458058" cy="2038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Manages a class of students: it stores four subject grades and the attendance of each student, then calculates the total, average, letter grade and Pass / Fail status.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41260" y="6741920"/>
            <a:ext cx="9564412" cy="1482974"/>
            <a:chOff x="0" y="0"/>
            <a:chExt cx="2519022" cy="39057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19022" cy="390577"/>
            </a:xfrm>
            <a:custGeom>
              <a:avLst/>
              <a:gdLst/>
              <a:ahLst/>
              <a:cxnLst/>
              <a:rect r="r" b="b" t="t" l="l"/>
              <a:pathLst>
                <a:path h="390577" w="2519022">
                  <a:moveTo>
                    <a:pt x="0" y="0"/>
                  </a:moveTo>
                  <a:lnTo>
                    <a:pt x="2519022" y="0"/>
                  </a:lnTo>
                  <a:lnTo>
                    <a:pt x="2519022" y="390577"/>
                  </a:lnTo>
                  <a:lnTo>
                    <a:pt x="0" y="390577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519022" cy="4286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641260" y="4956462"/>
            <a:ext cx="9564412" cy="1482974"/>
            <a:chOff x="0" y="0"/>
            <a:chExt cx="2519022" cy="3905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19022" cy="390577"/>
            </a:xfrm>
            <a:custGeom>
              <a:avLst/>
              <a:gdLst/>
              <a:ahLst/>
              <a:cxnLst/>
              <a:rect r="r" b="b" t="t" l="l"/>
              <a:pathLst>
                <a:path h="390577" w="2519022">
                  <a:moveTo>
                    <a:pt x="0" y="0"/>
                  </a:moveTo>
                  <a:lnTo>
                    <a:pt x="2519022" y="0"/>
                  </a:lnTo>
                  <a:lnTo>
                    <a:pt x="2519022" y="390577"/>
                  </a:lnTo>
                  <a:lnTo>
                    <a:pt x="0" y="390577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519022" cy="4286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6122805" y="1735266"/>
            <a:ext cx="13303688" cy="7523034"/>
            <a:chOff x="0" y="0"/>
            <a:chExt cx="634529" cy="35881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4529" cy="358817"/>
            </a:xfrm>
            <a:custGeom>
              <a:avLst/>
              <a:gdLst/>
              <a:ahLst/>
              <a:cxnLst/>
              <a:rect r="r" b="b" t="t" l="l"/>
              <a:pathLst>
                <a:path h="358817" w="634529">
                  <a:moveTo>
                    <a:pt x="431329" y="0"/>
                  </a:moveTo>
                  <a:lnTo>
                    <a:pt x="0" y="0"/>
                  </a:lnTo>
                  <a:lnTo>
                    <a:pt x="203200" y="358817"/>
                  </a:lnTo>
                  <a:lnTo>
                    <a:pt x="634529" y="358817"/>
                  </a:lnTo>
                  <a:lnTo>
                    <a:pt x="431329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01600" y="-38100"/>
              <a:ext cx="431329" cy="3969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708928" y="2060056"/>
            <a:ext cx="7745782" cy="6777560"/>
            <a:chOff x="0" y="0"/>
            <a:chExt cx="812800" cy="711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986641" y="2060056"/>
            <a:ext cx="7745782" cy="6777560"/>
            <a:chOff x="0" y="0"/>
            <a:chExt cx="812800" cy="711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41260" y="1725741"/>
            <a:ext cx="4087556" cy="2633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  <a:spcBef>
                <a:spcPts val="0"/>
              </a:spcBef>
            </a:pPr>
            <a:r>
              <a:rPr lang="en-US" sz="5754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How It Works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54024" y="5293136"/>
            <a:ext cx="60960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menu lets the user add, update, search and display students until they choose 0 to exit.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54024" y="7078594"/>
            <a:ext cx="6158402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Each student is a dictionary (id, name, grades, attendance). All students are stored in one list.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6507" y="0"/>
            <a:ext cx="9946915" cy="9258300"/>
            <a:chOff x="0" y="0"/>
            <a:chExt cx="65494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4941" cy="609600"/>
            </a:xfrm>
            <a:custGeom>
              <a:avLst/>
              <a:gdLst/>
              <a:ahLst/>
              <a:cxnLst/>
              <a:rect r="r" b="b" t="t" l="l"/>
              <a:pathLst>
                <a:path h="609600" w="654941">
                  <a:moveTo>
                    <a:pt x="451741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54941" y="609600"/>
                  </a:lnTo>
                  <a:lnTo>
                    <a:pt x="451741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38100"/>
              <a:ext cx="451741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5842" y="0"/>
            <a:ext cx="8848246" cy="8911112"/>
            <a:chOff x="0" y="0"/>
            <a:chExt cx="605299" cy="609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5299" cy="609600"/>
            </a:xfrm>
            <a:custGeom>
              <a:avLst/>
              <a:gdLst/>
              <a:ahLst/>
              <a:cxnLst/>
              <a:rect r="r" b="b" t="t" l="l"/>
              <a:pathLst>
                <a:path h="609600" w="605299">
                  <a:moveTo>
                    <a:pt x="402099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05299" y="609600"/>
                  </a:lnTo>
                  <a:lnTo>
                    <a:pt x="402099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657736" y="5971342"/>
            <a:ext cx="7601564" cy="3286958"/>
            <a:chOff x="0" y="0"/>
            <a:chExt cx="1409788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09788" cy="609600"/>
            </a:xfrm>
            <a:custGeom>
              <a:avLst/>
              <a:gdLst/>
              <a:ahLst/>
              <a:cxnLst/>
              <a:rect r="r" b="b" t="t" l="l"/>
              <a:pathLst>
                <a:path h="609600" w="1409788">
                  <a:moveTo>
                    <a:pt x="120658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1409788" y="609600"/>
                  </a:lnTo>
                  <a:lnTo>
                    <a:pt x="1206588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01600" y="-38100"/>
              <a:ext cx="1206588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64974" y="6337252"/>
            <a:ext cx="6387087" cy="2555138"/>
            <a:chOff x="0" y="0"/>
            <a:chExt cx="1523819" cy="609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523819" cy="609600"/>
            </a:xfrm>
            <a:custGeom>
              <a:avLst/>
              <a:gdLst/>
              <a:ahLst/>
              <a:cxnLst/>
              <a:rect r="r" b="b" t="t" l="l"/>
              <a:pathLst>
                <a:path h="609600" w="1523819">
                  <a:moveTo>
                    <a:pt x="1320619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1523819" y="609600"/>
                  </a:lnTo>
                  <a:lnTo>
                    <a:pt x="1320619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-1343492" y="5535493"/>
            <a:ext cx="7639451" cy="2650959"/>
            <a:chOff x="0" y="0"/>
            <a:chExt cx="1756726" cy="609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56726" cy="609600"/>
            </a:xfrm>
            <a:custGeom>
              <a:avLst/>
              <a:gdLst/>
              <a:ahLst/>
              <a:cxnLst/>
              <a:rect r="r" b="b" t="t" l="l"/>
              <a:pathLst>
                <a:path h="609600" w="1756726">
                  <a:moveTo>
                    <a:pt x="1553526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1756726" y="609600"/>
                  </a:lnTo>
                  <a:lnTo>
                    <a:pt x="1553526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01600" y="-38100"/>
              <a:ext cx="1553526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28700" y="5978143"/>
            <a:ext cx="4444628" cy="1756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  <a:spcBef>
                <a:spcPts val="0"/>
              </a:spcBef>
            </a:pPr>
            <a:r>
              <a:rPr lang="en-US" sz="5754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Calculating Results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64974" y="2153371"/>
            <a:ext cx="6073385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00"/>
              </a:lnSpc>
              <a:spcBef>
                <a:spcPts val="0"/>
              </a:spcBef>
            </a:pPr>
            <a:r>
              <a:rPr lang="en-US" sz="20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 = sum of the four grades. Average = total ÷ number of subjects. Two loops find the highest and the lowest grade.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64974" y="3779871"/>
            <a:ext cx="6073385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00"/>
              </a:lnSpc>
              <a:spcBef>
                <a:spcPts val="0"/>
              </a:spcBef>
            </a:pPr>
            <a:r>
              <a:rPr lang="en-US" sz="20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Letter grade: A ≥ 90, B ≥ 80, C ≥ 70, D ≥ 60, otherwise F. Status is Pass when the average is 60 or more.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5098115"/>
            <a:ext cx="6623483" cy="4160185"/>
            <a:chOff x="0" y="0"/>
            <a:chExt cx="647035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47035" cy="406400"/>
            </a:xfrm>
            <a:custGeom>
              <a:avLst/>
              <a:gdLst/>
              <a:ahLst/>
              <a:cxnLst/>
              <a:rect r="r" b="b" t="t" l="l"/>
              <a:pathLst>
                <a:path h="406400" w="647035">
                  <a:moveTo>
                    <a:pt x="0" y="0"/>
                  </a:moveTo>
                  <a:lnTo>
                    <a:pt x="443835" y="0"/>
                  </a:lnTo>
                  <a:lnTo>
                    <a:pt x="647035" y="203200"/>
                  </a:lnTo>
                  <a:lnTo>
                    <a:pt x="443835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77800" y="-38100"/>
              <a:ext cx="393035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9635" y="5385756"/>
            <a:ext cx="5377712" cy="3584903"/>
            <a:chOff x="0" y="0"/>
            <a:chExt cx="609641" cy="406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9641" cy="406400"/>
            </a:xfrm>
            <a:custGeom>
              <a:avLst/>
              <a:gdLst/>
              <a:ahLst/>
              <a:cxnLst/>
              <a:rect r="r" b="b" t="t" l="l"/>
              <a:pathLst>
                <a:path h="406400" w="609641">
                  <a:moveTo>
                    <a:pt x="0" y="0"/>
                  </a:moveTo>
                  <a:lnTo>
                    <a:pt x="406441" y="0"/>
                  </a:lnTo>
                  <a:lnTo>
                    <a:pt x="609641" y="203200"/>
                  </a:lnTo>
                  <a:lnTo>
                    <a:pt x="406441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5832259" y="5098115"/>
            <a:ext cx="6623483" cy="4160185"/>
            <a:chOff x="0" y="0"/>
            <a:chExt cx="647035" cy="406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7035" cy="406400"/>
            </a:xfrm>
            <a:custGeom>
              <a:avLst/>
              <a:gdLst/>
              <a:ahLst/>
              <a:cxnLst/>
              <a:rect r="r" b="b" t="t" l="l"/>
              <a:pathLst>
                <a:path h="406400" w="647035">
                  <a:moveTo>
                    <a:pt x="0" y="0"/>
                  </a:moveTo>
                  <a:lnTo>
                    <a:pt x="443835" y="0"/>
                  </a:lnTo>
                  <a:lnTo>
                    <a:pt x="647035" y="203200"/>
                  </a:lnTo>
                  <a:lnTo>
                    <a:pt x="443835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77800" y="-38100"/>
              <a:ext cx="393035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613193" y="5385756"/>
            <a:ext cx="5377712" cy="3584903"/>
            <a:chOff x="0" y="0"/>
            <a:chExt cx="609641" cy="406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09641" cy="406400"/>
            </a:xfrm>
            <a:custGeom>
              <a:avLst/>
              <a:gdLst/>
              <a:ahLst/>
              <a:cxnLst/>
              <a:rect r="r" b="b" t="t" l="l"/>
              <a:pathLst>
                <a:path h="406400" w="609641">
                  <a:moveTo>
                    <a:pt x="0" y="0"/>
                  </a:moveTo>
                  <a:lnTo>
                    <a:pt x="406441" y="0"/>
                  </a:lnTo>
                  <a:lnTo>
                    <a:pt x="609641" y="203200"/>
                  </a:lnTo>
                  <a:lnTo>
                    <a:pt x="406441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635817" y="5098115"/>
            <a:ext cx="6623483" cy="4160185"/>
            <a:chOff x="0" y="0"/>
            <a:chExt cx="647035" cy="406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47035" cy="406400"/>
            </a:xfrm>
            <a:custGeom>
              <a:avLst/>
              <a:gdLst/>
              <a:ahLst/>
              <a:cxnLst/>
              <a:rect r="r" b="b" t="t" l="l"/>
              <a:pathLst>
                <a:path h="406400" w="647035">
                  <a:moveTo>
                    <a:pt x="0" y="0"/>
                  </a:moveTo>
                  <a:lnTo>
                    <a:pt x="443835" y="0"/>
                  </a:lnTo>
                  <a:lnTo>
                    <a:pt x="647035" y="203200"/>
                  </a:lnTo>
                  <a:lnTo>
                    <a:pt x="443835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77800" y="-38100"/>
              <a:ext cx="393035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416752" y="5385756"/>
            <a:ext cx="5377712" cy="3584903"/>
            <a:chOff x="0" y="0"/>
            <a:chExt cx="609641" cy="406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9641" cy="406400"/>
            </a:xfrm>
            <a:custGeom>
              <a:avLst/>
              <a:gdLst/>
              <a:ahLst/>
              <a:cxnLst/>
              <a:rect r="r" b="b" t="t" l="l"/>
              <a:pathLst>
                <a:path h="406400" w="609641">
                  <a:moveTo>
                    <a:pt x="0" y="0"/>
                  </a:moveTo>
                  <a:lnTo>
                    <a:pt x="406441" y="0"/>
                  </a:lnTo>
                  <a:lnTo>
                    <a:pt x="609641" y="203200"/>
                  </a:lnTo>
                  <a:lnTo>
                    <a:pt x="406441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2"/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809635" y="2386124"/>
            <a:ext cx="5532848" cy="1756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  <a:spcBef>
                <a:spcPts val="0"/>
              </a:spcBef>
            </a:pPr>
            <a:r>
              <a:rPr lang="en-US" sz="5754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What I Used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8333846" y="2161893"/>
            <a:ext cx="3591965" cy="2214122"/>
            <a:chOff x="0" y="0"/>
            <a:chExt cx="946032" cy="58314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46032" cy="583143"/>
            </a:xfrm>
            <a:custGeom>
              <a:avLst/>
              <a:gdLst/>
              <a:ahLst/>
              <a:cxnLst/>
              <a:rect r="r" b="b" t="t" l="l"/>
              <a:pathLst>
                <a:path h="583143" w="946032">
                  <a:moveTo>
                    <a:pt x="0" y="0"/>
                  </a:moveTo>
                  <a:lnTo>
                    <a:pt x="946032" y="0"/>
                  </a:lnTo>
                  <a:lnTo>
                    <a:pt x="946032" y="583143"/>
                  </a:lnTo>
                  <a:lnTo>
                    <a:pt x="0" y="583143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946032" cy="6212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797133" y="2606967"/>
            <a:ext cx="2665391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Data</a:t>
            </a:r>
          </a:p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list of students; each student is a dictionary.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690625" y="2161893"/>
            <a:ext cx="3591965" cy="2214122"/>
            <a:chOff x="0" y="0"/>
            <a:chExt cx="946032" cy="58314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46032" cy="583143"/>
            </a:xfrm>
            <a:custGeom>
              <a:avLst/>
              <a:gdLst/>
              <a:ahLst/>
              <a:cxnLst/>
              <a:rect r="r" b="b" t="t" l="l"/>
              <a:pathLst>
                <a:path h="583143" w="946032">
                  <a:moveTo>
                    <a:pt x="0" y="0"/>
                  </a:moveTo>
                  <a:lnTo>
                    <a:pt x="946032" y="0"/>
                  </a:lnTo>
                  <a:lnTo>
                    <a:pt x="946032" y="583143"/>
                  </a:lnTo>
                  <a:lnTo>
                    <a:pt x="0" y="583143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946032" cy="6212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153912" y="2606967"/>
            <a:ext cx="2665391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Logic</a:t>
            </a:r>
          </a:p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Loops, if / elif / else, constants and f-strings.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275314" y="1512949"/>
            <a:ext cx="7620583" cy="3723546"/>
            <a:chOff x="0" y="0"/>
            <a:chExt cx="1247603" cy="609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47603" cy="609600"/>
            </a:xfrm>
            <a:custGeom>
              <a:avLst/>
              <a:gdLst/>
              <a:ahLst/>
              <a:cxnLst/>
              <a:rect r="r" b="b" t="t" l="l"/>
              <a:pathLst>
                <a:path h="609600" w="1247603">
                  <a:moveTo>
                    <a:pt x="203200" y="0"/>
                  </a:moveTo>
                  <a:lnTo>
                    <a:pt x="1247603" y="0"/>
                  </a:lnTo>
                  <a:lnTo>
                    <a:pt x="1044403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01600" y="-38100"/>
              <a:ext cx="1044403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797346" y="1842104"/>
            <a:ext cx="6576518" cy="3065237"/>
            <a:chOff x="0" y="0"/>
            <a:chExt cx="1307907" cy="609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07907" cy="609600"/>
            </a:xfrm>
            <a:custGeom>
              <a:avLst/>
              <a:gdLst/>
              <a:ahLst/>
              <a:cxnLst/>
              <a:rect r="r" b="b" t="t" l="l"/>
              <a:pathLst>
                <a:path h="609600" w="1307907">
                  <a:moveTo>
                    <a:pt x="203200" y="0"/>
                  </a:moveTo>
                  <a:lnTo>
                    <a:pt x="1307907" y="0"/>
                  </a:lnTo>
                  <a:lnTo>
                    <a:pt x="1104707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8829232" y="5534754"/>
            <a:ext cx="7620583" cy="3723546"/>
            <a:chOff x="0" y="0"/>
            <a:chExt cx="1247603" cy="609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47603" cy="609600"/>
            </a:xfrm>
            <a:custGeom>
              <a:avLst/>
              <a:gdLst/>
              <a:ahLst/>
              <a:cxnLst/>
              <a:rect r="r" b="b" t="t" l="l"/>
              <a:pathLst>
                <a:path h="609600" w="1247603">
                  <a:moveTo>
                    <a:pt x="203200" y="0"/>
                  </a:moveTo>
                  <a:lnTo>
                    <a:pt x="1247603" y="0"/>
                  </a:lnTo>
                  <a:lnTo>
                    <a:pt x="1044403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38100"/>
              <a:ext cx="1044403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51265" y="5863909"/>
            <a:ext cx="6576518" cy="3065237"/>
            <a:chOff x="0" y="0"/>
            <a:chExt cx="1307907" cy="609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07907" cy="609600"/>
            </a:xfrm>
            <a:custGeom>
              <a:avLst/>
              <a:gdLst/>
              <a:ahLst/>
              <a:cxnLst/>
              <a:rect r="r" b="b" t="t" l="l"/>
              <a:pathLst>
                <a:path h="609600" w="1307907">
                  <a:moveTo>
                    <a:pt x="203200" y="0"/>
                  </a:moveTo>
                  <a:lnTo>
                    <a:pt x="1307907" y="0"/>
                  </a:lnTo>
                  <a:lnTo>
                    <a:pt x="1104707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013676" y="4767557"/>
            <a:ext cx="960670" cy="960670"/>
            <a:chOff x="0" y="0"/>
            <a:chExt cx="253016" cy="2530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53016" cy="253016"/>
            </a:xfrm>
            <a:custGeom>
              <a:avLst/>
              <a:gdLst/>
              <a:ahLst/>
              <a:cxnLst/>
              <a:rect r="r" b="b" t="t" l="l"/>
              <a:pathLst>
                <a:path h="253016" w="253016">
                  <a:moveTo>
                    <a:pt x="0" y="0"/>
                  </a:moveTo>
                  <a:lnTo>
                    <a:pt x="253016" y="0"/>
                  </a:lnTo>
                  <a:lnTo>
                    <a:pt x="253016" y="253016"/>
                  </a:lnTo>
                  <a:lnTo>
                    <a:pt x="0" y="253016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53016" cy="2911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92060" y="4710407"/>
            <a:ext cx="4883144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find_student() compares the keyword with the ID or part of the name and returns a list of matches.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013676" y="4908845"/>
            <a:ext cx="960670" cy="54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2013676" y="6916192"/>
            <a:ext cx="960670" cy="960670"/>
            <a:chOff x="0" y="0"/>
            <a:chExt cx="253016" cy="2530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3016" cy="253016"/>
            </a:xfrm>
            <a:custGeom>
              <a:avLst/>
              <a:gdLst/>
              <a:ahLst/>
              <a:cxnLst/>
              <a:rect r="r" b="b" t="t" l="l"/>
              <a:pathLst>
                <a:path h="253016" w="253016">
                  <a:moveTo>
                    <a:pt x="0" y="0"/>
                  </a:moveTo>
                  <a:lnTo>
                    <a:pt x="253016" y="0"/>
                  </a:lnTo>
                  <a:lnTo>
                    <a:pt x="253016" y="253016"/>
                  </a:lnTo>
                  <a:lnTo>
                    <a:pt x="0" y="253016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53016" cy="2911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3592060" y="6859042"/>
            <a:ext cx="4883144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ask_for_student() returns one student or None. update_grades() and update_attendance() reuse it.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3676" y="7057480"/>
            <a:ext cx="960670" cy="54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sp>
        <p:nvSpPr>
          <p:cNvPr name="Title Search Update" id="26"/>
          <p:cNvSpPr txBox="true"/>
          <p:nvPr/>
        </p:nvSpPr>
        <p:spPr>
          <a:xfrm rot="0">
            <a:off x="2009775" y="1905000"/>
            <a:ext cx="6667500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69"/>
              </a:lnSpc>
              <a:spcBef>
                <a:spcPts val="0"/>
              </a:spcBef>
            </a:pPr>
            <a:r>
              <a:rPr lang="en-US" sz="6999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Search &amp; Update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1028700"/>
            <a:ext cx="7072795" cy="6583153"/>
            <a:chOff x="0" y="0"/>
            <a:chExt cx="654941" cy="609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54941" cy="609600"/>
            </a:xfrm>
            <a:custGeom>
              <a:avLst/>
              <a:gdLst/>
              <a:ahLst/>
              <a:cxnLst/>
              <a:rect r="r" b="b" t="t" l="l"/>
              <a:pathLst>
                <a:path h="609600" w="654941">
                  <a:moveTo>
                    <a:pt x="451741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54941" y="609600"/>
                  </a:lnTo>
                  <a:lnTo>
                    <a:pt x="451741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38100"/>
              <a:ext cx="451741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77553" y="1412216"/>
            <a:ext cx="5775089" cy="5816121"/>
            <a:chOff x="0" y="0"/>
            <a:chExt cx="605299" cy="609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5299" cy="609600"/>
            </a:xfrm>
            <a:custGeom>
              <a:avLst/>
              <a:gdLst/>
              <a:ahLst/>
              <a:cxnLst/>
              <a:rect r="r" b="b" t="t" l="l"/>
              <a:pathLst>
                <a:path h="609600" w="605299">
                  <a:moveTo>
                    <a:pt x="402099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05299" y="609600"/>
                  </a:lnTo>
                  <a:lnTo>
                    <a:pt x="402099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758229" y="2675147"/>
            <a:ext cx="7072795" cy="6583153"/>
            <a:chOff x="0" y="0"/>
            <a:chExt cx="654941" cy="609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54941" cy="609600"/>
            </a:xfrm>
            <a:custGeom>
              <a:avLst/>
              <a:gdLst/>
              <a:ahLst/>
              <a:cxnLst/>
              <a:rect r="r" b="b" t="t" l="l"/>
              <a:pathLst>
                <a:path h="609600" w="654941">
                  <a:moveTo>
                    <a:pt x="451741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54941" y="609600"/>
                  </a:lnTo>
                  <a:lnTo>
                    <a:pt x="451741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01600" y="-38100"/>
              <a:ext cx="451741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407082" y="3058663"/>
            <a:ext cx="5775089" cy="5816121"/>
            <a:chOff x="0" y="0"/>
            <a:chExt cx="605299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05299" cy="609600"/>
            </a:xfrm>
            <a:custGeom>
              <a:avLst/>
              <a:gdLst/>
              <a:ahLst/>
              <a:cxnLst/>
              <a:rect r="r" b="b" t="t" l="l"/>
              <a:pathLst>
                <a:path h="609600" w="605299">
                  <a:moveTo>
                    <a:pt x="402099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05299" y="609600"/>
                  </a:lnTo>
                  <a:lnTo>
                    <a:pt x="402099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3255520" y="7611853"/>
            <a:ext cx="5163373" cy="912645"/>
            <a:chOff x="0" y="0"/>
            <a:chExt cx="3448866" cy="609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448867" cy="609600"/>
            </a:xfrm>
            <a:custGeom>
              <a:avLst/>
              <a:gdLst/>
              <a:ahLst/>
              <a:cxnLst/>
              <a:rect r="r" b="b" t="t" l="l"/>
              <a:pathLst>
                <a:path h="609600" w="3448867">
                  <a:moveTo>
                    <a:pt x="3245666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3448867" y="609600"/>
                  </a:lnTo>
                  <a:lnTo>
                    <a:pt x="3245666" y="0"/>
                  </a:lnTo>
                  <a:close/>
                </a:path>
              </a:pathLst>
            </a:custGeom>
            <a:solidFill>
              <a:srgbClr val="0194FF">
                <a:alpha val="8000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01600" y="-38100"/>
              <a:ext cx="3245666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461061" y="1762502"/>
            <a:ext cx="5163373" cy="912645"/>
            <a:chOff x="0" y="0"/>
            <a:chExt cx="3448866" cy="609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448867" cy="609600"/>
            </a:xfrm>
            <a:custGeom>
              <a:avLst/>
              <a:gdLst/>
              <a:ahLst/>
              <a:cxnLst/>
              <a:rect r="r" b="b" t="t" l="l"/>
              <a:pathLst>
                <a:path h="609600" w="3448867">
                  <a:moveTo>
                    <a:pt x="3245666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3448867" y="609600"/>
                  </a:lnTo>
                  <a:lnTo>
                    <a:pt x="3245666" y="0"/>
                  </a:lnTo>
                  <a:close/>
                </a:path>
              </a:pathLst>
            </a:custGeom>
            <a:solidFill>
              <a:srgbClr val="0194FF">
                <a:alpha val="80000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101600" y="-38100"/>
              <a:ext cx="3245666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525500" y="2381250"/>
            <a:ext cx="4000500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60"/>
              </a:lnSpc>
              <a:spcBef>
                <a:spcPts val="0"/>
              </a:spcBef>
            </a:pPr>
            <a:r>
              <a:rPr lang="en-US" sz="6000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Key Functions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19930" y="7733213"/>
            <a:ext cx="4234553" cy="54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ts val="0"/>
              </a:spcBef>
            </a:pPr>
            <a:r>
              <a:rPr lang="en-US" b="true" sz="24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Input &amp; Validation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25472" y="1883862"/>
            <a:ext cx="4234553" cy="54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ts val="0"/>
              </a:spcBef>
            </a:pPr>
            <a:r>
              <a:rPr lang="en-US" b="true" sz="24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Calculations</a:t>
            </a:r>
          </a:p>
        </p:txBody>
      </p:sp>
      <p:sp>
        <p:nvSpPr>
          <p:cNvPr name="Function list" id="25"/>
          <p:cNvSpPr txBox="true"/>
          <p:nvPr/>
        </p:nvSpPr>
        <p:spPr>
          <a:xfrm rot="0">
            <a:off x="13525500" y="4572000"/>
            <a:ext cx="3810000" cy="3238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Input &amp; Validation</a:t>
            </a:r>
          </a:p>
          <a:p>
            <a:pPr algn="l" marL="0" indent="0" lvl="0">
              <a:lnSpc>
                <a:spcPts val="2720"/>
              </a:lnSpc>
              <a:spcBef>
                <a:spcPts val="100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is_valid_grade, read_grade, read_attendance</a:t>
            </a:r>
          </a:p>
          <a:p>
            <a:pPr algn="l" marL="0" indent="0" lvl="0">
              <a:lnSpc>
                <a:spcPts val="2720"/>
              </a:lnSpc>
              <a:spcBef>
                <a:spcPts val="100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Calculations</a:t>
            </a:r>
          </a:p>
          <a:p>
            <a:pPr algn="l" marL="0" indent="0" lvl="0">
              <a:lnSpc>
                <a:spcPts val="2720"/>
              </a:lnSpc>
              <a:spcBef>
                <a:spcPts val="100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calculate_total, calculate_average, calculate_grade, calculate_status, highest_grade, lowest_grade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118925" y="2865030"/>
            <a:ext cx="8212638" cy="8212638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573948" y="3320053"/>
            <a:ext cx="7302593" cy="730259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5789480" y="-1524758"/>
            <a:ext cx="8212638" cy="8212638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244503" y="-1069735"/>
            <a:ext cx="7302593" cy="7302593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11512" y="1543721"/>
            <a:ext cx="3961097" cy="2633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  <a:spcBef>
                <a:spcPts val="0"/>
              </a:spcBef>
            </a:pPr>
            <a:r>
              <a:rPr lang="en-US" sz="5754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Data Functions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611512" y="6313255"/>
            <a:ext cx="3591965" cy="2214122"/>
            <a:chOff x="0" y="0"/>
            <a:chExt cx="946032" cy="58314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46032" cy="583143"/>
            </a:xfrm>
            <a:custGeom>
              <a:avLst/>
              <a:gdLst/>
              <a:ahLst/>
              <a:cxnLst/>
              <a:rect r="r" b="b" t="t" l="l"/>
              <a:pathLst>
                <a:path h="583143" w="946032">
                  <a:moveTo>
                    <a:pt x="0" y="0"/>
                  </a:moveTo>
                  <a:lnTo>
                    <a:pt x="946032" y="0"/>
                  </a:lnTo>
                  <a:lnTo>
                    <a:pt x="946032" y="583143"/>
                  </a:lnTo>
                  <a:lnTo>
                    <a:pt x="0" y="583143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46032" cy="6212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74799" y="6524625"/>
            <a:ext cx="2665391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Manage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add_student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find_student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ask_for_student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update_grades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update_attendance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488872" y="6313255"/>
            <a:ext cx="3591965" cy="2214122"/>
            <a:chOff x="0" y="0"/>
            <a:chExt cx="946032" cy="58314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46032" cy="583143"/>
            </a:xfrm>
            <a:custGeom>
              <a:avLst/>
              <a:gdLst/>
              <a:ahLst/>
              <a:cxnLst/>
              <a:rect r="r" b="b" t="t" l="l"/>
              <a:pathLst>
                <a:path h="583143" w="946032">
                  <a:moveTo>
                    <a:pt x="0" y="0"/>
                  </a:moveTo>
                  <a:lnTo>
                    <a:pt x="946032" y="0"/>
                  </a:lnTo>
                  <a:lnTo>
                    <a:pt x="946032" y="583143"/>
                  </a:lnTo>
                  <a:lnTo>
                    <a:pt x="0" y="583143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946032" cy="6212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5952159" y="6524625"/>
            <a:ext cx="2665391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Display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display_student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display_all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search_and_show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print_menu</a:t>
            </a:r>
          </a:p>
          <a:p>
            <a:pPr algn="l" marL="0" indent="0" lvl="0">
              <a:lnSpc>
                <a:spcPts val="2350"/>
              </a:lnSpc>
              <a:spcBef>
                <a:spcPts val="0"/>
              </a:spcBef>
            </a:pPr>
            <a:r>
              <a:rPr lang="en-US" sz="15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run_grade_manager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11512" y="4840222"/>
            <a:ext cx="4632991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These functions add, find and update students, then display the results.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1028700"/>
            <a:ext cx="7620583" cy="3723546"/>
            <a:chOff x="0" y="0"/>
            <a:chExt cx="1247603" cy="609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47603" cy="609600"/>
            </a:xfrm>
            <a:custGeom>
              <a:avLst/>
              <a:gdLst/>
              <a:ahLst/>
              <a:cxnLst/>
              <a:rect r="r" b="b" t="t" l="l"/>
              <a:pathLst>
                <a:path h="609600" w="1247603">
                  <a:moveTo>
                    <a:pt x="203200" y="0"/>
                  </a:moveTo>
                  <a:lnTo>
                    <a:pt x="1247603" y="0"/>
                  </a:lnTo>
                  <a:lnTo>
                    <a:pt x="1044403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38100"/>
              <a:ext cx="1044403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50733" y="1357854"/>
            <a:ext cx="6576518" cy="3065237"/>
            <a:chOff x="0" y="0"/>
            <a:chExt cx="1307907" cy="609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7907" cy="609600"/>
            </a:xfrm>
            <a:custGeom>
              <a:avLst/>
              <a:gdLst/>
              <a:ahLst/>
              <a:cxnLst/>
              <a:rect r="r" b="b" t="t" l="l"/>
              <a:pathLst>
                <a:path h="609600" w="1307907">
                  <a:moveTo>
                    <a:pt x="203200" y="0"/>
                  </a:moveTo>
                  <a:lnTo>
                    <a:pt x="1307907" y="0"/>
                  </a:lnTo>
                  <a:lnTo>
                    <a:pt x="1104707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319343" y="2235313"/>
            <a:ext cx="7620583" cy="3723546"/>
            <a:chOff x="0" y="0"/>
            <a:chExt cx="1247603" cy="609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47603" cy="609600"/>
            </a:xfrm>
            <a:custGeom>
              <a:avLst/>
              <a:gdLst/>
              <a:ahLst/>
              <a:cxnLst/>
              <a:rect r="r" b="b" t="t" l="l"/>
              <a:pathLst>
                <a:path h="609600" w="1247603">
                  <a:moveTo>
                    <a:pt x="203200" y="0"/>
                  </a:moveTo>
                  <a:lnTo>
                    <a:pt x="1247603" y="0"/>
                  </a:lnTo>
                  <a:lnTo>
                    <a:pt x="1044403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01600" y="-38100"/>
              <a:ext cx="1044403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841376" y="2564468"/>
            <a:ext cx="6576518" cy="3065237"/>
            <a:chOff x="0" y="0"/>
            <a:chExt cx="1307907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07907" cy="609600"/>
            </a:xfrm>
            <a:custGeom>
              <a:avLst/>
              <a:gdLst/>
              <a:ahLst/>
              <a:cxnLst/>
              <a:rect r="r" b="b" t="t" l="l"/>
              <a:pathLst>
                <a:path h="609600" w="1307907">
                  <a:moveTo>
                    <a:pt x="203200" y="0"/>
                  </a:moveTo>
                  <a:lnTo>
                    <a:pt x="1307907" y="0"/>
                  </a:lnTo>
                  <a:lnTo>
                    <a:pt x="1104707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blipFill>
              <a:blip r:embed="rId101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3609986" y="3441927"/>
            <a:ext cx="6260308" cy="3723546"/>
            <a:chOff x="0" y="0"/>
            <a:chExt cx="1024906" cy="609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906" cy="609600"/>
            </a:xfrm>
            <a:custGeom>
              <a:avLst/>
              <a:gdLst/>
              <a:ahLst/>
              <a:cxnLst/>
              <a:rect r="r" b="b" t="t" l="l"/>
              <a:pathLst>
                <a:path h="609600" w="1024906">
                  <a:moveTo>
                    <a:pt x="203200" y="0"/>
                  </a:moveTo>
                  <a:lnTo>
                    <a:pt x="1024906" y="0"/>
                  </a:lnTo>
                  <a:lnTo>
                    <a:pt x="821706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01600" y="-38100"/>
              <a:ext cx="821706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132019" y="3771081"/>
            <a:ext cx="5284256" cy="3065237"/>
            <a:chOff x="0" y="0"/>
            <a:chExt cx="1050908" cy="609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50908" cy="609600"/>
            </a:xfrm>
            <a:custGeom>
              <a:avLst/>
              <a:gdLst/>
              <a:ahLst/>
              <a:cxnLst/>
              <a:rect r="r" b="b" t="t" l="l"/>
              <a:pathLst>
                <a:path h="609600" w="1050908">
                  <a:moveTo>
                    <a:pt x="203200" y="0"/>
                  </a:moveTo>
                  <a:lnTo>
                    <a:pt x="1050908" y="0"/>
                  </a:lnTo>
                  <a:lnTo>
                    <a:pt x="847708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blipFill>
              <a:blip r:embed="rId102"/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041897" y="6006484"/>
            <a:ext cx="5100327" cy="1756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  <a:spcBef>
                <a:spcPts val="0"/>
              </a:spcBef>
            </a:pPr>
            <a:r>
              <a:rPr lang="en-US" sz="5754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Project Summary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10268" y="6955292"/>
            <a:ext cx="585234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 xml:space="preserve">What it does: </a:t>
            </a: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stores grades, calculates results, searches and updates students.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406960" y="8470227"/>
            <a:ext cx="585234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 xml:space="preserve">What I practised: </a:t>
            </a: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functions, lists, dictionaries, loops, conditions and input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-2252317" y="-3661981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11688755" y="10349861"/>
                </a:moveTo>
                <a:lnTo>
                  <a:pt x="0" y="10349861"/>
                </a:lnTo>
                <a:lnTo>
                  <a:pt x="0" y="0"/>
                </a:lnTo>
                <a:lnTo>
                  <a:pt x="11688755" y="0"/>
                </a:lnTo>
                <a:lnTo>
                  <a:pt x="11688755" y="10349861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29979" y="791365"/>
            <a:ext cx="15628042" cy="4270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9"/>
              </a:lnSpc>
              <a:spcBef>
                <a:spcPct val="0"/>
              </a:spcBef>
            </a:pPr>
            <a:r>
              <a:rPr lang="en-US" sz="24999">
                <a:solidFill>
                  <a:srgbClr val="0194FF"/>
                </a:solidFill>
                <a:latin typeface="Anton"/>
                <a:ea typeface="Anton"/>
                <a:cs typeface="Anton"/>
                <a:sym typeface="Anton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8851562" y="3599120"/>
            <a:ext cx="11688756" cy="10349862"/>
          </a:xfrm>
          <a:custGeom>
            <a:avLst/>
            <a:gdLst/>
            <a:ahLst/>
            <a:cxnLst/>
            <a:rect r="r" b="b" t="t" l="l"/>
            <a:pathLst>
              <a:path h="10349862" w="11688756">
                <a:moveTo>
                  <a:pt x="0" y="0"/>
                </a:moveTo>
                <a:lnTo>
                  <a:pt x="11688755" y="0"/>
                </a:lnTo>
                <a:lnTo>
                  <a:pt x="11688755" y="10349861"/>
                </a:lnTo>
                <a:lnTo>
                  <a:pt x="0" y="1034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8251152"/>
            <a:ext cx="6637155" cy="2398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9"/>
              </a:lnSpc>
              <a:spcBef>
                <a:spcPct val="0"/>
              </a:spcBef>
            </a:pPr>
            <a:r>
              <a:rPr lang="en-US" sz="13935">
                <a:solidFill>
                  <a:srgbClr val="FFFFFF">
                    <a:alpha val="1961"/>
                  </a:srgbClr>
                </a:solidFill>
                <a:latin typeface="Anton"/>
                <a:ea typeface="Anton"/>
                <a:cs typeface="Anton"/>
                <a:sym typeface="Anton"/>
              </a:rPr>
              <a:t>Grades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430618" y="830527"/>
            <a:ext cx="3828682" cy="198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7"/>
              </a:lnSpc>
              <a:spcBef>
                <a:spcPct val="0"/>
              </a:spcBef>
            </a:pPr>
            <a:r>
              <a:rPr lang="en-US" sz="1197" spc="855">
                <a:solidFill>
                  <a:srgbClr val="0194FF"/>
                </a:solidFill>
                <a:latin typeface="Montserrat"/>
                <a:ea typeface="Montserrat"/>
                <a:cs typeface="Montserrat"/>
                <a:sym typeface="Montserrat"/>
              </a:rPr>
              <a:t>GRADE MANAGER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595591" y="3287217"/>
            <a:ext cx="9096817" cy="9096817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194FF">
                <a:alpha val="19608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099602" y="3791227"/>
            <a:ext cx="8088796" cy="808879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100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3428570" y="5500476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Made with Python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4399" y="5500476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Student Grade Manager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44269" y="8240651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Any questions?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136" y="8240651"/>
            <a:ext cx="321503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720"/>
              </a:lnSpc>
              <a:spcBef>
                <a:spcPts val="0"/>
              </a:spcBef>
            </a:pPr>
            <a:r>
              <a:rPr lang="en-US" sz="1600" strike="noStrike" u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Functions, lists, dictionaries and loops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DAHV2sNzywk</dc:identifier>
  <dcterms:modified xsi:type="dcterms:W3CDTF">2011-08-01T06:04:30Z</dcterms:modified>
  <cp:revision>1</cp:revision>
  <dc:title>Blue Dynamic Futuristic Robotic Presentation</dc:title>
</cp:coreProperties>
</file>